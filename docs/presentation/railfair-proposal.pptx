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15a2c9d1-35fe-9641-1c0e-84b2a5a37363}">
          <p14:sldIdLst>
            <p14:sldId id="256"/>
          </p14:sldIdLst>
        </p14:section>
        <p14:section name="Problem" id="{34c831c0-f762-43d2-4a65-6d47182cb1a1}">
          <p14:sldIdLst>
            <p14:sldId id="257"/>
            <p14:sldId id="258"/>
          </p14:sldIdLst>
        </p14:section>
        <p14:section name="Solution" id="{3e7943f0-1f58-10d1-b055-1a0815c84d0f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  <p14:section name="Impact" id="{7526b733-b413-31a1-6e51-af11658a7a7f}">
          <p14:sldIdLst>
            <p14:sldId id="267"/>
            <p14:sldId id="268"/>
            <p14:sldId id="269"/>
          </p14:sldIdLst>
        </p14:section>
        <p14:section name="Evidence" id="{3b8721bb-fa1a-267e-0a18-afc65338c7c7}">
          <p14:sldIdLst>
            <p14:sldId id="270"/>
            <p14:sldId id="271"/>
          </p14:sldIdLst>
        </p14:section>
        <p14:section name="Next steps" id="{ca44816f-6bf3-8cc2-3531-128b4d56ddd8}">
          <p14:sldIdLst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Seats won</c:v>
                </c:pt>
              </c:strCache>
            </c:strRef>
          </c:tx>
          <c:spPr>
            <a:solidFill>
              <a:srgbClr val="1E5B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2000" u="none">
                    <a:solidFill>
                      <a:srgbClr val="17201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5B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4530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এক আবেদন / one entry each</c:v>
                  </c:pt>
                  <c:pt idx="1">
                    <c:v>৫ বার আবেদন / five entries each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</c:v>
                </c:pt>
                <c:pt idx="1">
                  <c:v>111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2000" u="none">
                  <a:solidFill>
                    <a:srgbClr val="17201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B6670"/>
                </a:solidFill>
                <a:latin typeface="Nirmala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E3E8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শুরু: এটি একটি প্রস্তাবিত ধারণা, চালু কোনো সেবা নয়। সব তথ্য কাল্পনিক। Open: this is a proposal for discussion, not a live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ক্লায়েন্টের প্রশ্ন দিয়ে শুরু করুন, তারপর এক লাইনে উত্তর। The three verbs on the right are the whole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of these six tools is closed by a specific feature later in the deck. বাইরে থেকে দেখা আচরণ; ভেতরের সিস্টেম দেখা হয়নি।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Pillar 1 removes speed and duplicate entries. Pillar 2 removes handover and seat parking. Pillar 3 makes fees, staff and seats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আগে এলে আগে পাবেন — শুধু সাধারণ ট্রেনে থাকবে। ব্যস্ত ট্রেনে দ্রুত ক্লিকে কোনো লাভ নেই। Screen: P21·v2 in Bangla.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is the first objection. Show this public audit page. No names, NID or phone numbers are shown.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P22·v2: the deadline never restarts, so nobody can park seats. P10·v2: fare, service charge and any agent fee are listed separately.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closes the agent-holds-the-account pattern. Helpers can book and pay; only the traveller controls the ticket. Agents need a consent code from the traveller's own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QR proves the ticket is genuine, not who holds it. Staff record one of three outcomes. "Couldn't check" is recorded honestly, never as invalid, so queues keep moving.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Keywords stay the same in English and Bangla. One case across SMS, app and counter. Reporting never cancels a ticket. The real two-way number is a telecom dependency.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 cannot stop collusion alone, but it makes it visible. OP09·v2 shows one unexplained seat flagged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row by row; each "now" problem matches one of the six tools from the problem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Model: 1,000 single-seat applicants, 200 of them broker-assisted (20%), 200 seats, 20,000 draws. With one entry each they win their fair share (~40). If each could enter 5 times, they would win ~111. Source: research/allocation_sim.py.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Page 98 in Figma shows each role's full journey. Making the official route easy is itself anti-black-market: fewer people need a paid middleman.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Offer a live demo: Figma page 99 act 1, then the SMS EXTRA report, the guard check, and the agent portal on page 98.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Saying this openly builds trust. Do not promise a percentage drop.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 pilot, not a full rollout. Baseline first, then compare.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ask: a pilot, not a full rollout. Q&amp;A prep: docs/client-qa.md (25 questions).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i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Proposed concept · fictional data · not a live railway service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ন্যায্য টিকিট, কালোবাজারি কম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</a:rPr>
              <a:t>Fair tickets, less black marketing</a:t>
            </a:r>
            <a:endParaRPr lang="en-US" sz="2400" dirty="0"/>
          </a:p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proposed upgrade to Rail Sheba booking and ticket checking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প্রস্তাবিত ধারণা · কাল্পনিক তথ্য · আলোচনার জন্য</a:t>
            </a:r>
            <a:endParaRPr lang="en-US" sz="2400" dirty="0"/>
          </a:p>
        </p:txBody>
      </p:sp>
      <p:sp>
        <p:nvSpPr>
          <p:cNvPr id="4" name="Presenter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Shahriar Shanto · UX Research ·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আপনার প্রশ্ন, আমাদের উত্তর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The brief and our answer in one line</a:t>
            </a:r>
            <a:endParaRPr lang="en-US" sz="1600" dirty="0"/>
          </a:p>
        </p:txBody>
      </p:sp>
      <p:sp>
        <p:nvSpPr>
          <p:cNvPr id="5" name="Brief card"/>
          <p:cNvSpPr/>
          <p:nvPr/>
        </p:nvSpPr>
        <p:spPr>
          <a:xfrm>
            <a:off x="548640" y="1737360"/>
            <a:ext cx="5303520" cy="420624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Brief text"/>
          <p:cNvSpPr txBox="1"/>
          <p:nvPr/>
        </p:nvSpPr>
        <p:spPr>
          <a:xfrm>
            <a:off x="868680" y="2011680"/>
            <a:ext cx="4663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accent3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প্রশ্ন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4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Rail Sheba-র বর্তমান ব্যবস্থার সম্ভাব্য সমাধান কী, আর কীভাবে টিকিট কালোবাজারি ঠেকানো ও কমানো যায়?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i="1" dirty="0">
                <a:solidFill>
                  <a:schemeClr val="accent5"/>
                </a:solidFill>
              </a:rPr>
              <a:t>What are the possible solutions for the current system, and how can ticket black marketing be prevented and reduced?</a:t>
            </a:r>
            <a:endParaRPr lang="en-US" sz="1400" dirty="0"/>
          </a:p>
        </p:txBody>
      </p:sp>
      <p:sp>
        <p:nvSpPr>
          <p:cNvPr id="7" name="Step 1"/>
          <p:cNvSpPr/>
          <p:nvPr/>
        </p:nvSpPr>
        <p:spPr>
          <a:xfrm>
            <a:off x="6309360" y="187452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Step number 1"/>
          <p:cNvSpPr txBox="1"/>
          <p:nvPr/>
        </p:nvSpPr>
        <p:spPr>
          <a:xfrm>
            <a:off x="6309360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Answer 1"/>
          <p:cNvSpPr txBox="1"/>
          <p:nvPr/>
        </p:nvSpPr>
        <p:spPr>
          <a:xfrm>
            <a:off x="7269480" y="173736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দ্রুততার প্রতিযোগিতা বন্ধ</a:t>
            </a:r>
            <a:endParaRPr lang="en-US" sz="2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Stop the speed race</a:t>
            </a:r>
            <a:endParaRPr lang="en-US" sz="2600" dirty="0"/>
          </a:p>
        </p:txBody>
      </p:sp>
      <p:sp>
        <p:nvSpPr>
          <p:cNvPr id="10" name="Step 2"/>
          <p:cNvSpPr/>
          <p:nvPr/>
        </p:nvSpPr>
        <p:spPr>
          <a:xfrm>
            <a:off x="6309360" y="33375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 number 2"/>
          <p:cNvSpPr txBox="1"/>
          <p:nvPr/>
        </p:nvSpPr>
        <p:spPr>
          <a:xfrm>
            <a:off x="6309360" y="3337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Answer 2"/>
          <p:cNvSpPr txBox="1"/>
          <p:nvPr/>
        </p:nvSpPr>
        <p:spPr>
          <a:xfrm>
            <a:off x="7269480" y="320040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টিকিট যাত্রীর সাথে বাঁধা</a:t>
            </a:r>
            <a:endParaRPr lang="en-US" sz="2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Bind each ticket to its traveller</a:t>
            </a:r>
            <a:endParaRPr lang="en-US" sz="2600" dirty="0"/>
          </a:p>
        </p:txBody>
      </p:sp>
      <p:sp>
        <p:nvSpPr>
          <p:cNvPr id="13" name="Step 3"/>
          <p:cNvSpPr/>
          <p:nvPr/>
        </p:nvSpPr>
        <p:spPr>
          <a:xfrm>
            <a:off x="6309360" y="480060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Step number 3"/>
          <p:cNvSpPr txBox="1"/>
          <p:nvPr/>
        </p:nvSpPr>
        <p:spPr>
          <a:xfrm>
            <a:off x="6309360" y="4800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Answer 3"/>
          <p:cNvSpPr txBox="1"/>
          <p:nvPr/>
        </p:nvSpPr>
        <p:spPr>
          <a:xfrm>
            <a:off x="7269480" y="46634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প্রতিটি ধাপ রেকর্ডে</a:t>
            </a:r>
            <a:endParaRPr lang="en-US" sz="2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Keep every step on record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কালোবাজারি এখন কীভাবে চলে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Six tools resellers rely on today (observed from outside; internal systems not reviewed)</a:t>
            </a:r>
            <a:endParaRPr lang="en-US" sz="1600" dirty="0"/>
          </a:p>
        </p:txBody>
      </p:sp>
      <p:sp>
        <p:nvSpPr>
          <p:cNvPr id="5" name="Problem card 1"/>
          <p:cNvSpPr/>
          <p:nvPr/>
        </p:nvSpPr>
        <p:spPr>
          <a:xfrm>
            <a:off x="548640" y="169164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Problem icon bg 1"/>
          <p:cNvSpPr/>
          <p:nvPr/>
        </p:nvSpPr>
        <p:spPr>
          <a:xfrm>
            <a:off x="822960" y="196596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Problem icon 1" descr="গতি ও বট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30552"/>
            <a:ext cx="402336" cy="402336"/>
          </a:xfrm>
          <a:prstGeom prst="rect">
            <a:avLst/>
          </a:prstGeom>
        </p:spPr>
      </p:pic>
      <p:sp>
        <p:nvSpPr>
          <p:cNvPr id="8" name="Problem text 1"/>
          <p:cNvSpPr txBox="1"/>
          <p:nvPr/>
        </p:nvSpPr>
        <p:spPr>
          <a:xfrm>
            <a:off x="82296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গতি ও বট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Whoever clicks fastest at sale opening wins</a:t>
            </a:r>
            <a:endParaRPr lang="en-US" sz="2000" dirty="0"/>
          </a:p>
        </p:txBody>
      </p:sp>
      <p:sp>
        <p:nvSpPr>
          <p:cNvPr id="9" name="Problem card 2"/>
          <p:cNvSpPr/>
          <p:nvPr/>
        </p:nvSpPr>
        <p:spPr>
          <a:xfrm>
            <a:off x="4297680" y="169164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roblem icon bg 2"/>
          <p:cNvSpPr/>
          <p:nvPr/>
        </p:nvSpPr>
        <p:spPr>
          <a:xfrm>
            <a:off x="4572000" y="196596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1" name="Problem icon 2" descr="অনেক অ্যাকাউন্ট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130552"/>
            <a:ext cx="402336" cy="402336"/>
          </a:xfrm>
          <a:prstGeom prst="rect">
            <a:avLst/>
          </a:prstGeom>
        </p:spPr>
      </p:pic>
      <p:sp>
        <p:nvSpPr>
          <p:cNvPr id="12" name="Problem text 2"/>
          <p:cNvSpPr txBox="1"/>
          <p:nvPr/>
        </p:nvSpPr>
        <p:spPr>
          <a:xfrm>
            <a:off x="457200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অনেক অ্যাকাউন্ট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Extra phones and accounts mean extra chances</a:t>
            </a:r>
            <a:endParaRPr lang="en-US" sz="2000" dirty="0"/>
          </a:p>
        </p:txBody>
      </p:sp>
      <p:sp>
        <p:nvSpPr>
          <p:cNvPr id="13" name="Problem card 3"/>
          <p:cNvSpPr/>
          <p:nvPr/>
        </p:nvSpPr>
        <p:spPr>
          <a:xfrm>
            <a:off x="8046720" y="169164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Problem icon bg 3"/>
          <p:cNvSpPr/>
          <p:nvPr/>
        </p:nvSpPr>
        <p:spPr>
          <a:xfrm>
            <a:off x="8321040" y="196596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5" name="Problem icon 3" descr="আসন আটকে রাখা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5632" y="2130552"/>
            <a:ext cx="402336" cy="402336"/>
          </a:xfrm>
          <a:prstGeom prst="rect">
            <a:avLst/>
          </a:prstGeom>
        </p:spPr>
      </p:pic>
      <p:sp>
        <p:nvSpPr>
          <p:cNvPr id="16" name="Problem text 3"/>
          <p:cNvSpPr txBox="1"/>
          <p:nvPr/>
        </p:nvSpPr>
        <p:spPr>
          <a:xfrm>
            <a:off x="8321040" y="2788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আসন আটকে রাখা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Holding seats, then releasing them to a buyer</a:t>
            </a:r>
            <a:endParaRPr lang="en-US" sz="2000" dirty="0"/>
          </a:p>
        </p:txBody>
      </p:sp>
      <p:sp>
        <p:nvSpPr>
          <p:cNvPr id="17" name="Problem card 4"/>
          <p:cNvSpPr/>
          <p:nvPr/>
        </p:nvSpPr>
        <p:spPr>
          <a:xfrm>
            <a:off x="548640" y="397764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roblem icon bg 4"/>
          <p:cNvSpPr/>
          <p:nvPr/>
        </p:nvSpPr>
        <p:spPr>
          <a:xfrm>
            <a:off x="822960" y="425196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9" name="Problem icon 4" descr="নাম বদল ও হাতবদল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416552"/>
            <a:ext cx="402336" cy="402336"/>
          </a:xfrm>
          <a:prstGeom prst="rect">
            <a:avLst/>
          </a:prstGeom>
        </p:spPr>
      </p:pic>
      <p:sp>
        <p:nvSpPr>
          <p:cNvPr id="20" name="Problem text 4"/>
          <p:cNvSpPr txBox="1"/>
          <p:nvPr/>
        </p:nvSpPr>
        <p:spPr>
          <a:xfrm>
            <a:off x="822960" y="5074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নাম বদল ও হাতবদল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Resold tickets used by someone else</a:t>
            </a:r>
            <a:endParaRPr lang="en-US" sz="2000" dirty="0"/>
          </a:p>
        </p:txBody>
      </p:sp>
      <p:sp>
        <p:nvSpPr>
          <p:cNvPr id="21" name="Problem card 5"/>
          <p:cNvSpPr/>
          <p:nvPr/>
        </p:nvSpPr>
        <p:spPr>
          <a:xfrm>
            <a:off x="4297680" y="397764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Problem icon bg 5"/>
          <p:cNvSpPr/>
          <p:nvPr/>
        </p:nvSpPr>
        <p:spPr>
          <a:xfrm>
            <a:off x="4572000" y="425196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3" name="Problem icon 5" descr="লুকানো বাড়তি দাম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592" y="4416552"/>
            <a:ext cx="402336" cy="402336"/>
          </a:xfrm>
          <a:prstGeom prst="rect">
            <a:avLst/>
          </a:prstGeom>
        </p:spPr>
      </p:pic>
      <p:sp>
        <p:nvSpPr>
          <p:cNvPr id="24" name="Problem text 5"/>
          <p:cNvSpPr txBox="1"/>
          <p:nvPr/>
        </p:nvSpPr>
        <p:spPr>
          <a:xfrm>
            <a:off x="4572000" y="5074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লুকানো বাড়তি দাম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Agents charge on top, with no receipt</a:t>
            </a:r>
            <a:endParaRPr lang="en-US" sz="2000" dirty="0"/>
          </a:p>
        </p:txBody>
      </p:sp>
      <p:sp>
        <p:nvSpPr>
          <p:cNvPr id="25" name="Problem card 6"/>
          <p:cNvSpPr/>
          <p:nvPr/>
        </p:nvSpPr>
        <p:spPr>
          <a:xfrm>
            <a:off x="8046720" y="3977640"/>
            <a:ext cx="3474720" cy="2011680"/>
          </a:xfrm>
          <a:prstGeom prst="roundRect">
            <a:avLst>
              <a:gd name="adj" fmla="val 68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Problem icon bg 6"/>
          <p:cNvSpPr/>
          <p:nvPr/>
        </p:nvSpPr>
        <p:spPr>
          <a:xfrm>
            <a:off x="8321040" y="4251960"/>
            <a:ext cx="731520" cy="7315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27" name="Problem icon 6" descr="ভেতরের লোকের আসন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4416552"/>
            <a:ext cx="402336" cy="402336"/>
          </a:xfrm>
          <a:prstGeom prst="rect">
            <a:avLst/>
          </a:prstGeom>
        </p:spPr>
      </p:pic>
      <p:sp>
        <p:nvSpPr>
          <p:cNvPr id="28" name="Problem text 6"/>
          <p:cNvSpPr txBox="1"/>
          <p:nvPr/>
        </p:nvSpPr>
        <p:spPr>
          <a:xfrm>
            <a:off x="8321040" y="50749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ভেতরের লোকের আসন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Seats quietly held back for resale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আমাদের সমাধান: তিনটি স্তম্ভ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Our solution in three pillars</a:t>
            </a:r>
            <a:endParaRPr lang="en-US" sz="1600" dirty="0"/>
          </a:p>
        </p:txBody>
      </p:sp>
      <p:sp>
        <p:nvSpPr>
          <p:cNvPr id="5" name="Pillar 1"/>
          <p:cNvSpPr/>
          <p:nvPr/>
        </p:nvSpPr>
        <p:spPr>
          <a:xfrm>
            <a:off x="548640" y="1691640"/>
            <a:ext cx="3474720" cy="4434840"/>
          </a:xfrm>
          <a:prstGeom prst="roundRect">
            <a:avLst>
              <a:gd name="adj" fmla="val 394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Pillar icon bg 1"/>
          <p:cNvSpPr/>
          <p:nvPr/>
        </p:nvSpPr>
        <p:spPr>
          <a:xfrm>
            <a:off x="822960" y="196596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7" name="Pillar icon 1" descr="Fair acce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48840"/>
            <a:ext cx="457200" cy="457200"/>
          </a:xfrm>
          <a:prstGeom prst="rect">
            <a:avLst/>
          </a:prstGeom>
        </p:spPr>
      </p:pic>
      <p:sp>
        <p:nvSpPr>
          <p:cNvPr id="8" name="Pillar title 1"/>
          <p:cNvSpPr txBox="1"/>
          <p:nvPr/>
        </p:nvSpPr>
        <p:spPr>
          <a:xfrm>
            <a:off x="822960" y="2926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ন্যায্য সুযোগ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Fair access</a:t>
            </a:r>
            <a:endParaRPr lang="en-US" sz="2400" dirty="0"/>
          </a:p>
        </p:txBody>
      </p:sp>
      <p:sp>
        <p:nvSpPr>
          <p:cNvPr id="9" name="Pillar points 1"/>
          <p:cNvSpPr txBox="1"/>
          <p:nvPr/>
        </p:nvSpPr>
        <p:spPr>
          <a:xfrm>
            <a:off x="822960" y="3977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আবেদনের সময় + প্রকাশ্য ড্র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প্রতি যাত্রী একটি আবেদন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নির্দিষ্ট পরিশোধের সময়</a:t>
            </a:r>
            <a:endParaRPr lang="en-US" sz="1600" dirty="0"/>
          </a:p>
        </p:txBody>
      </p:sp>
      <p:sp>
        <p:nvSpPr>
          <p:cNvPr id="10" name="Pillar 2"/>
          <p:cNvSpPr/>
          <p:nvPr/>
        </p:nvSpPr>
        <p:spPr>
          <a:xfrm>
            <a:off x="4297680" y="1691640"/>
            <a:ext cx="3474720" cy="443484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illar icon bg 2"/>
          <p:cNvSpPr/>
          <p:nvPr/>
        </p:nvSpPr>
        <p:spPr>
          <a:xfrm>
            <a:off x="4572000" y="196596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2" name="Pillar icon 2" descr="The ticket belongs to the travell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48840"/>
            <a:ext cx="457200" cy="457200"/>
          </a:xfrm>
          <a:prstGeom prst="rect">
            <a:avLst/>
          </a:prstGeom>
        </p:spPr>
      </p:pic>
      <p:sp>
        <p:nvSpPr>
          <p:cNvPr id="13" name="Pillar title 2"/>
          <p:cNvSpPr txBox="1"/>
          <p:nvPr/>
        </p:nvSpPr>
        <p:spPr>
          <a:xfrm>
            <a:off x="4572000" y="2926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টিকিট যাত্রীর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ticket belongs to the traveller</a:t>
            </a:r>
            <a:endParaRPr lang="en-US" sz="2400" dirty="0"/>
          </a:p>
        </p:txBody>
      </p:sp>
      <p:sp>
        <p:nvSpPr>
          <p:cNvPr id="14" name="Pillar points 2"/>
          <p:cNvSpPr txBox="1"/>
          <p:nvPr/>
        </p:nvSpPr>
        <p:spPr>
          <a:xfrm>
            <a:off x="4572000" y="3977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নাম বদল বা হাতবদল নেই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সাহায্যকারী ও এজেন্ট টিকিট পান না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গেটে ও ট্রেনে ব্যক্তি যাচাই</a:t>
            </a:r>
            <a:endParaRPr lang="en-US" sz="1600" dirty="0"/>
          </a:p>
        </p:txBody>
      </p:sp>
      <p:sp>
        <p:nvSpPr>
          <p:cNvPr id="15" name="Pillar 3"/>
          <p:cNvSpPr/>
          <p:nvPr/>
        </p:nvSpPr>
        <p:spPr>
          <a:xfrm>
            <a:off x="8046720" y="1691640"/>
            <a:ext cx="3474720" cy="4434840"/>
          </a:xfrm>
          <a:prstGeom prst="roundRect">
            <a:avLst>
              <a:gd name="adj" fmla="val 394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Pillar icon bg 3"/>
          <p:cNvSpPr/>
          <p:nvPr/>
        </p:nvSpPr>
        <p:spPr>
          <a:xfrm>
            <a:off x="8321040" y="1965960"/>
            <a:ext cx="822960" cy="82296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17" name="Pillar icon 3" descr="Transparency and accountabili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148840"/>
            <a:ext cx="457200" cy="457200"/>
          </a:xfrm>
          <a:prstGeom prst="rect">
            <a:avLst/>
          </a:prstGeom>
        </p:spPr>
      </p:pic>
      <p:sp>
        <p:nvSpPr>
          <p:cNvPr id="18" name="Pillar title 3"/>
          <p:cNvSpPr txBox="1"/>
          <p:nvPr/>
        </p:nvSpPr>
        <p:spPr>
          <a:xfrm>
            <a:off x="8321040" y="29260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স্বচ্ছতা ও জবাবদিহি</a:t>
            </a:r>
            <a:endParaRPr lang="en-US" sz="2400" dirty="0"/>
          </a:p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Transparency and accountability</a:t>
            </a:r>
            <a:endParaRPr lang="en-US" sz="2400" dirty="0"/>
          </a:p>
        </p:txBody>
      </p:sp>
      <p:sp>
        <p:nvSpPr>
          <p:cNvPr id="19" name="Pillar points 3"/>
          <p:cNvSpPr txBox="1"/>
          <p:nvPr/>
        </p:nvSpPr>
        <p:spPr>
          <a:xfrm>
            <a:off x="8321040" y="3977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খাতওয়ারি অফিসিয়াল মোট + SMS রসিদ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গোপনে বাড়তি টাকার অভিযোগ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প্রতিটি আসনের হিসাব, দ্বিতীয় অনুমোদন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ব্যস্ত ট্রেনে আবেদন ও ড্র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How the fair draw works on busy trains (times are examples; rules proposed)</a:t>
            </a:r>
            <a:endParaRPr lang="en-US" sz="1600" dirty="0"/>
          </a:p>
        </p:txBody>
      </p:sp>
      <p:sp>
        <p:nvSpPr>
          <p:cNvPr id="5" name="Time 1"/>
          <p:cNvSpPr/>
          <p:nvPr/>
        </p:nvSpPr>
        <p:spPr>
          <a:xfrm>
            <a:off x="548640" y="1737360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ime text 1"/>
          <p:cNvSpPr txBox="1"/>
          <p:nvPr/>
        </p:nvSpPr>
        <p:spPr>
          <a:xfrm>
            <a:off x="548640" y="173736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০৮:০০</a:t>
            </a:r>
            <a:endParaRPr lang="en-US" sz="2200" dirty="0"/>
          </a:p>
        </p:txBody>
      </p:sp>
      <p:sp>
        <p:nvSpPr>
          <p:cNvPr id="7" name="Step text 1"/>
          <p:cNvSpPr txBox="1"/>
          <p:nvPr/>
        </p:nvSpPr>
        <p:spPr>
          <a:xfrm>
            <a:off x="2240280" y="173736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আবেদন শুরু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Window opens</a:t>
            </a:r>
            <a:endParaRPr lang="en-US" sz="2000" dirty="0"/>
          </a:p>
        </p:txBody>
      </p:sp>
      <p:sp>
        <p:nvSpPr>
          <p:cNvPr id="8" name="Time 2"/>
          <p:cNvSpPr/>
          <p:nvPr/>
        </p:nvSpPr>
        <p:spPr>
          <a:xfrm>
            <a:off x="548640" y="2816352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ime text 2"/>
          <p:cNvSpPr txBox="1"/>
          <p:nvPr/>
        </p:nvSpPr>
        <p:spPr>
          <a:xfrm>
            <a:off x="548640" y="281635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১০:০০</a:t>
            </a:r>
            <a:endParaRPr lang="en-US" sz="2200" dirty="0"/>
          </a:p>
        </p:txBody>
      </p:sp>
      <p:sp>
        <p:nvSpPr>
          <p:cNvPr id="10" name="Step text 2"/>
          <p:cNvSpPr txBox="1"/>
          <p:nvPr/>
        </p:nvSpPr>
        <p:spPr>
          <a:xfrm>
            <a:off x="2240280" y="2816352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তালিকা স্থির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List and seats frozen</a:t>
            </a:r>
            <a:endParaRPr lang="en-US" sz="2000" dirty="0"/>
          </a:p>
        </p:txBody>
      </p:sp>
      <p:sp>
        <p:nvSpPr>
          <p:cNvPr id="11" name="Time 3"/>
          <p:cNvSpPr/>
          <p:nvPr/>
        </p:nvSpPr>
        <p:spPr>
          <a:xfrm>
            <a:off x="548640" y="3895344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Time text 3"/>
          <p:cNvSpPr txBox="1"/>
          <p:nvPr/>
        </p:nvSpPr>
        <p:spPr>
          <a:xfrm>
            <a:off x="548640" y="3895344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১০:৩০</a:t>
            </a:r>
            <a:endParaRPr lang="en-US" sz="2200" dirty="0"/>
          </a:p>
        </p:txBody>
      </p:sp>
      <p:sp>
        <p:nvSpPr>
          <p:cNvPr id="13" name="Step text 3"/>
          <p:cNvSpPr txBox="1"/>
          <p:nvPr/>
        </p:nvSpPr>
        <p:spPr>
          <a:xfrm>
            <a:off x="2240280" y="3895344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ড্র প্রকাশ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Result by app and SMS</a:t>
            </a:r>
            <a:endParaRPr lang="en-US" sz="2000" dirty="0"/>
          </a:p>
        </p:txBody>
      </p:sp>
      <p:sp>
        <p:nvSpPr>
          <p:cNvPr id="14" name="Time 4"/>
          <p:cNvSpPr/>
          <p:nvPr/>
        </p:nvSpPr>
        <p:spPr>
          <a:xfrm>
            <a:off x="548640" y="4974336"/>
            <a:ext cx="146304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Time text 4"/>
          <p:cNvSpPr txBox="1"/>
          <p:nvPr/>
        </p:nvSpPr>
        <p:spPr>
          <a:xfrm>
            <a:off x="548640" y="4974336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১১:০০</a:t>
            </a:r>
            <a:endParaRPr lang="en-US" sz="2200" dirty="0"/>
          </a:p>
        </p:txBody>
      </p:sp>
      <p:sp>
        <p:nvSpPr>
          <p:cNvPr id="16" name="Step text 4"/>
          <p:cNvSpPr txBox="1"/>
          <p:nvPr/>
        </p:nvSpPr>
        <p:spPr>
          <a:xfrm>
            <a:off x="2240280" y="4974336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পরিশোধের শেষ সময়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Unpaid seats go to the next in order</a:t>
            </a:r>
            <a:endParaRPr lang="en-US" sz="2000" dirty="0"/>
          </a:p>
        </p:txBody>
      </p:sp>
      <p:sp>
        <p:nvSpPr>
          <p:cNvPr id="17" name="Key line"/>
          <p:cNvSpPr txBox="1"/>
          <p:nvPr/>
        </p:nvSpPr>
        <p:spPr>
          <a:xfrm>
            <a:off x="548640" y="59893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০৮:০০ বা ০৯:৫৯ — সুযোগ একই। </a:t>
            </a:r>
            <a:pPr indent="0" marL="0">
              <a:buNone/>
            </a:pPr>
            <a:r>
              <a:rPr lang="en-US" sz="1500" i="1" dirty="0">
                <a:solidFill>
                  <a:schemeClr val="tx2"/>
                </a:solidFill>
              </a:rPr>
              <a:t>Applying early gives no extra chance.</a:t>
            </a:r>
            <a:endParaRPr lang="en-US" sz="1500" dirty="0"/>
          </a:p>
        </p:txBody>
      </p:sp>
      <p:sp>
        <p:nvSpPr>
          <p:cNvPr id="18" name="Screen P21·v2 apply for the draw frame"/>
          <p:cNvSpPr/>
          <p:nvPr/>
        </p:nvSpPr>
        <p:spPr>
          <a:xfrm>
            <a:off x="8668512" y="1490472"/>
            <a:ext cx="2332110" cy="4791456"/>
          </a:xfrm>
          <a:prstGeom prst="roundRect">
            <a:avLst>
              <a:gd name="adj" fmla="val 98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Screen P21·v2 apply for the draw" descr="Screen P21·v2 apply for the dra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1600200"/>
            <a:ext cx="2112654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ড্র যে সৎ, তার প্রমাণ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Anyone can check the draw afterwards</a:t>
            </a:r>
            <a:endParaRPr lang="en-US" sz="1600" dirty="0"/>
          </a:p>
        </p:txBody>
      </p:sp>
      <p:sp>
        <p:nvSpPr>
          <p:cNvPr id="5" name="Screen PA1·v2 public draw audit frame"/>
          <p:cNvSpPr/>
          <p:nvPr/>
        </p:nvSpPr>
        <p:spPr>
          <a:xfrm>
            <a:off x="667512" y="1490472"/>
            <a:ext cx="2332110" cy="4791456"/>
          </a:xfrm>
          <a:prstGeom prst="roundRect">
            <a:avLst>
              <a:gd name="adj" fmla="val 98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Screen PA1·v2 public draw audit" descr="Screen PA1·v2 public draw audi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112654" cy="4572000"/>
          </a:xfrm>
          <a:prstGeom prst="rect">
            <a:avLst/>
          </a:prstGeom>
        </p:spPr>
      </p:pic>
      <p:sp>
        <p:nvSpPr>
          <p:cNvPr id="7" name="Points"/>
          <p:cNvSpPr txBox="1"/>
          <p:nvPr/>
        </p:nvSpPr>
        <p:spPr>
          <a:xfrm>
            <a:off x="3840480" y="1737360"/>
            <a:ext cx="7772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তালিকা ও আসনসংখ্যা আগে স্থির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Applicants and seats are frozen and fingerprinted before the random number exists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প্রকাশ্য দৈব সংখ্যা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The random number comes from a public source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স্বাধীন পুনরায় চালানো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An independent auditor replays the draw and must get the same result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আবার চালানো নিষেধ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Nobody can rerun a draw to get a different result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নিজের স্থান নিজে দেখা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Anyone can check their own application number; no personal data is public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নির্বাচিত হলে: নির্দিষ্ট সময়ে, অফিসিয়াল দামে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Picked: pay by a fixed time, at an itemised official total</a:t>
            </a:r>
            <a:endParaRPr lang="en-US" sz="1600" dirty="0"/>
          </a:p>
        </p:txBody>
      </p:sp>
      <p:sp>
        <p:nvSpPr>
          <p:cNvPr id="5" name="Screen P22·v2 picked, pay by 11:00 frame"/>
          <p:cNvSpPr/>
          <p:nvPr/>
        </p:nvSpPr>
        <p:spPr>
          <a:xfrm>
            <a:off x="667512" y="1490472"/>
            <a:ext cx="2332110" cy="4791456"/>
          </a:xfrm>
          <a:prstGeom prst="roundRect">
            <a:avLst>
              <a:gd name="adj" fmla="val 98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Screen P22·v2 picked, pay by 11:00" descr="Screen P22·v2 picked, pay by 11:0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112654" cy="4572000"/>
          </a:xfrm>
          <a:prstGeom prst="rect">
            <a:avLst/>
          </a:prstGeom>
        </p:spPr>
      </p:pic>
      <p:sp>
        <p:nvSpPr>
          <p:cNvPr id="7" name="Screen P10·v2 official total frame"/>
          <p:cNvSpPr/>
          <p:nvPr/>
        </p:nvSpPr>
        <p:spPr>
          <a:xfrm>
            <a:off x="3273552" y="1490472"/>
            <a:ext cx="2332110" cy="4791456"/>
          </a:xfrm>
          <a:prstGeom prst="roundRect">
            <a:avLst>
              <a:gd name="adj" fmla="val 98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Screen P10·v2 official total" descr="Screen P10·v2 official tot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00200"/>
            <a:ext cx="2112654" cy="4572000"/>
          </a:xfrm>
          <a:prstGeom prst="rect">
            <a:avLst/>
          </a:prstGeom>
        </p:spPr>
      </p:pic>
      <p:sp>
        <p:nvSpPr>
          <p:cNvPr id="9" name="Points"/>
          <p:cNvSpPr txBox="1"/>
          <p:nvPr/>
        </p:nvSpPr>
        <p:spPr>
          <a:xfrm>
            <a:off x="6217920" y="173736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পরিশোধের সময় আবার শুরু হয় না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Opening the offer, changing phone or retrying payment never resets the clock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না দিলে আসন পরের জনের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Unpaid seats go to the next application in draw order, never to someone chosen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খাতওয়ারি অফিসিয়াল মোট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Fare, service charge and any agent fee shown line by line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SMS রসিদ প্রত্যেক প্রাপ্তবয়স্ককে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accent5"/>
                </a:solidFill>
              </a:rPr>
              <a:t>Each adult traveller gets the same total by SMS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টিকিট সবসময় যাত্রীর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The ticket stays with the traveller, whoever booked it</a:t>
            </a:r>
            <a:endParaRPr lang="en-US" sz="1600" dirty="0"/>
          </a:p>
        </p:txBody>
      </p:sp>
      <p:sp>
        <p:nvSpPr>
          <p:cNvPr id="5" name="Screen F05·v2 who does what frame"/>
          <p:cNvSpPr/>
          <p:nvPr/>
        </p:nvSpPr>
        <p:spPr>
          <a:xfrm>
            <a:off x="667512" y="1490472"/>
            <a:ext cx="2332110" cy="4791456"/>
          </a:xfrm>
          <a:prstGeom prst="roundRect">
            <a:avLst>
              <a:gd name="adj" fmla="val 98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Screen F05·v2 who does what" descr="Screen F05·v2 who does w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2112654" cy="4572000"/>
          </a:xfrm>
          <a:prstGeom prst="rect">
            <a:avLst/>
          </a:prstGeom>
        </p:spPr>
      </p:pic>
      <p:sp>
        <p:nvSpPr>
          <p:cNvPr id="7" name="Screen A1·v2 who can act on my booking frame"/>
          <p:cNvSpPr/>
          <p:nvPr/>
        </p:nvSpPr>
        <p:spPr>
          <a:xfrm>
            <a:off x="3273552" y="1490472"/>
            <a:ext cx="2332110" cy="4791456"/>
          </a:xfrm>
          <a:prstGeom prst="roundRect">
            <a:avLst>
              <a:gd name="adj" fmla="val 980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Screen A1·v2 who can act on my booking" descr="Screen A1·v2 who can act on my book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00200"/>
            <a:ext cx="2112654" cy="4572000"/>
          </a:xfrm>
          <a:prstGeom prst="rect">
            <a:avLst/>
          </a:prstGeom>
        </p:spPr>
      </p:pic>
      <p:sp>
        <p:nvSpPr>
          <p:cNvPr id="9" name="Points"/>
          <p:cNvSpPr txBox="1"/>
          <p:nvPr/>
        </p:nvSpPr>
        <p:spPr>
          <a:xfrm>
            <a:off x="6217920" y="1737360"/>
            <a:ext cx="53949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যাত্রী, সাহায্যকারী, পরিশোধকারী আলাদা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Helpers can book and pay, but cannot change or cancel the ticket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যাত্রী সাহায্যকারীকে সরাতে পারেন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Any time, in the app or at any counter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এজেন্টের জন্য সম্মতি কোড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Sent to the traveller's own phone; agents see status only, never the QR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নাম বদল নেই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Desk corrections only for the same person, with a second approver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ফেরতের টাকা যে দিয়েছে তার কাছে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Refunds cannot be redirected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গেটে ও ট্রেনে: টিকিট আর মানুষ আলাদাভাবে যাচাই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At the gate and on the train: ticket status and person check are separate</a:t>
            </a:r>
            <a:endParaRPr lang="en-US" sz="1600" dirty="0"/>
          </a:p>
        </p:txBody>
      </p:sp>
      <p:sp>
        <p:nvSpPr>
          <p:cNvPr id="5" name="Screen S02 staff check frame"/>
          <p:cNvSpPr/>
          <p:nvPr/>
        </p:nvSpPr>
        <p:spPr>
          <a:xfrm>
            <a:off x="667512" y="1536192"/>
            <a:ext cx="6528816" cy="4885754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Screen S02 staff check" descr="Screen S02 staff 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6309360" cy="4666298"/>
          </a:xfrm>
          <a:prstGeom prst="rect">
            <a:avLst/>
          </a:prstGeom>
        </p:spPr>
      </p:pic>
      <p:sp>
        <p:nvSpPr>
          <p:cNvPr id="7" name="Points"/>
          <p:cNvSpPr txBox="1"/>
          <p:nvPr/>
        </p:nvSpPr>
        <p:spPr>
          <a:xfrm>
            <a:off x="7589520" y="1737360"/>
            <a:ext cx="40233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সিস্টেম: টিকিট আসল কি না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Signed QR and live ticket status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কর্মী: মানুষটি কি একই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Name and photo ID against the named traveller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তিনটি ফল, সবই রেকর্ড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Matches · does not match · could not check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অফলাইনেও কাজ করে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Offline checks are provisional; reissue cancels old QRs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SMS-এ সাহায্য ও বাড়তি টাকার অভিযোগ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Help and extra-charge reporting by SMS, no smartphone needed (simulation)</a:t>
            </a:r>
            <a:endParaRPr lang="en-US" sz="1600" dirty="0"/>
          </a:p>
        </p:txBody>
      </p:sp>
      <p:sp>
        <p:nvSpPr>
          <p:cNvPr id="5" name="SMS demo screen frame"/>
          <p:cNvSpPr/>
          <p:nvPr/>
        </p:nvSpPr>
        <p:spPr>
          <a:xfrm>
            <a:off x="667512" y="1536192"/>
            <a:ext cx="4974336" cy="4578096"/>
          </a:xfrm>
          <a:prstGeom prst="roundRect">
            <a:avLst>
              <a:gd name="adj" fmla="val 29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SMS demo screen" descr="SMS demo scree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4754880" cy="4358640"/>
          </a:xfrm>
          <a:prstGeom prst="rect">
            <a:avLst/>
          </a:prstGeom>
        </p:spPr>
      </p:pic>
      <p:sp>
        <p:nvSpPr>
          <p:cNvPr id="7" name="Keyword HELP"/>
          <p:cNvSpPr/>
          <p:nvPr/>
        </p:nvSpPr>
        <p:spPr>
          <a:xfrm>
            <a:off x="6126480" y="1737360"/>
            <a:ext cx="155448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Keyword text HELP"/>
          <p:cNvSpPr txBox="1"/>
          <p:nvPr/>
        </p:nvSpPr>
        <p:spPr>
          <a:xfrm>
            <a:off x="6126480" y="173736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HELP</a:t>
            </a:r>
            <a:endParaRPr lang="en-US" sz="2000" dirty="0"/>
          </a:p>
        </p:txBody>
      </p:sp>
      <p:sp>
        <p:nvSpPr>
          <p:cNvPr id="9" name="Keyword meaning HELP"/>
          <p:cNvSpPr txBox="1"/>
          <p:nvPr/>
        </p:nvSpPr>
        <p:spPr>
          <a:xfrm>
            <a:off x="7909560" y="173736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সাহায্যের মেনু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Ticket access, refund, booking without permission, callback</a:t>
            </a:r>
            <a:endParaRPr lang="en-US" sz="1800" dirty="0"/>
          </a:p>
        </p:txBody>
      </p:sp>
      <p:sp>
        <p:nvSpPr>
          <p:cNvPr id="10" name="Keyword EXTRA"/>
          <p:cNvSpPr/>
          <p:nvPr/>
        </p:nvSpPr>
        <p:spPr>
          <a:xfrm>
            <a:off x="6126480" y="3063240"/>
            <a:ext cx="155448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1" name="Keyword text EXTRA"/>
          <p:cNvSpPr txBox="1"/>
          <p:nvPr/>
        </p:nvSpPr>
        <p:spPr>
          <a:xfrm>
            <a:off x="6126480" y="306324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EXTRA</a:t>
            </a:r>
            <a:endParaRPr lang="en-US" sz="2000" dirty="0"/>
          </a:p>
        </p:txBody>
      </p:sp>
      <p:sp>
        <p:nvSpPr>
          <p:cNvPr id="12" name="Keyword meaning EXTRA"/>
          <p:cNvSpPr txBox="1"/>
          <p:nvPr/>
        </p:nvSpPr>
        <p:spPr>
          <a:xfrm>
            <a:off x="7909560" y="306324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বাড়তি টাকার অভিযোগ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Total paid → reported excess → SEND to confirm</a:t>
            </a:r>
            <a:endParaRPr lang="en-US" sz="1800" dirty="0"/>
          </a:p>
        </p:txBody>
      </p:sp>
      <p:sp>
        <p:nvSpPr>
          <p:cNvPr id="13" name="Keyword STATUS"/>
          <p:cNvSpPr/>
          <p:nvPr/>
        </p:nvSpPr>
        <p:spPr>
          <a:xfrm>
            <a:off x="6126480" y="4389120"/>
            <a:ext cx="155448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Keyword text STATUS"/>
          <p:cNvSpPr txBox="1"/>
          <p:nvPr/>
        </p:nvSpPr>
        <p:spPr>
          <a:xfrm>
            <a:off x="6126480" y="438912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STATUS</a:t>
            </a:r>
            <a:endParaRPr lang="en-US" sz="2000" dirty="0"/>
          </a:p>
        </p:txBody>
      </p:sp>
      <p:sp>
        <p:nvSpPr>
          <p:cNvPr id="15" name="Keyword meaning STATUS"/>
          <p:cNvSpPr txBox="1"/>
          <p:nvPr/>
        </p:nvSpPr>
        <p:spPr>
          <a:xfrm>
            <a:off x="7909560" y="4389120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অভিযোগের অবস্থা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Received → under review → outcome and appeal</a:t>
            </a:r>
            <a:endParaRPr lang="en-US" sz="1800" dirty="0"/>
          </a:p>
        </p:txBody>
      </p:sp>
      <p:sp>
        <p:nvSpPr>
          <p:cNvPr id="16" name="SMS safety line"/>
          <p:cNvSpPr txBox="1"/>
          <p:nvPr/>
        </p:nvSpPr>
        <p:spPr>
          <a:xfrm>
            <a:off x="6126480" y="58064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কখনো এনআইডি, পিন, পাসওয়ার্ড বা OTP চাওয়া হয় না।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Reports are leads, not proof; no automatic penalty.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ভেতরের অনিয়ম ঠেকানো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Controls against insider misuse</a:t>
            </a:r>
            <a:endParaRPr lang="en-US" sz="1600" dirty="0"/>
          </a:p>
        </p:txBody>
      </p:sp>
      <p:sp>
        <p:nvSpPr>
          <p:cNvPr id="5" name="Screen OP09·v2 every seat accounted for frame"/>
          <p:cNvSpPr/>
          <p:nvPr/>
        </p:nvSpPr>
        <p:spPr>
          <a:xfrm>
            <a:off x="667512" y="1536192"/>
            <a:ext cx="6071616" cy="4791456"/>
          </a:xfrm>
          <a:prstGeom prst="roundRect">
            <a:avLst>
              <a:gd name="adj" fmla="val 28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Screen OP09·v2 every seat accounted for" descr="Screen OP09·v2 every seat accounted f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45920"/>
            <a:ext cx="5852160" cy="4572000"/>
          </a:xfrm>
          <a:prstGeom prst="rect">
            <a:avLst/>
          </a:prstGeom>
        </p:spPr>
      </p:pic>
      <p:sp>
        <p:nvSpPr>
          <p:cNvPr id="7" name="Points"/>
          <p:cNvSpPr txBox="1"/>
          <p:nvPr/>
        </p:nvSpPr>
        <p:spPr>
          <a:xfrm>
            <a:off x="7132320" y="1737360"/>
            <a:ext cx="4480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প্রতিটি আসনের হিসাব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Each seat is in exactly one state; unapproved blocks are flagged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দ্বিতীয় অনুমোদন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Desk decisions need a second person; self-approval is blocked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ড্র পুনরায় চালানো ও প্রকাশ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Inputs frozen before the draw; independent replay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অডিট লগ ও নমুনা পর্যালোচনা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An independent integrity team reviews samples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এখন বনাম প্রস্তাবিত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Current approach (observed from outside) vs proposed</a:t>
            </a:r>
            <a:endParaRPr lang="en-US" sz="1600" dirty="0"/>
          </a:p>
        </p:txBody>
      </p:sp>
      <p:graphicFrame>
        <p:nvGraphicFramePr>
          <p:cNvPr id="13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926080"/>
                <a:gridCol w="52120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বিষয় / Topic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এখন / Now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প্রস্তাবিত / Proposed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B3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01B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ব্যস্ত ট্রেনের টিকিট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যে আগে ক্লিক করে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3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নির্দিষ্ট সময়ে আবেদন + প্রকাশ্য ড্র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01B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বাড়তি অ্যাকাউন্ট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বাড়তি সুযোগ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3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প্রতি যাত্রী একটি আবেদন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01B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আসন আটকে রাখা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হোল্ড করে পরে ছাড়া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3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নির্দিষ্ট শেষ সময়, বারবার হলে বিরতি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01B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দালালের হাতে টিকিট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ঘটে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3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টিকিট যাত্রীর ফোনে, এজেন্ট শুধু অবস্থা দেখেন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01B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নাম বদলে বিক্রি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ঝুঁকি আছে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3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শুধু একই ব্যক্তির সংশোধন, দ্বিতীয় অনুমোদন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01B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গেট ও ট্রেনে যাচাই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অসম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3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টিকিট ও ব্যক্তি আলাদাভাবে, রেকর্ডসহ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01B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বাড়তি টাকা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জানানোর পথ নেই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3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রসিদ, SMS ও গোপন অভিযোগ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7201B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ভেতরের আসন সরানো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B45309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ধরা কঠিন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5B3F"/>
                          </a:solidFill>
                          <a:latin typeface="Nirmala UI" pitchFamily="34" charset="0"/>
                          <a:ea typeface="Nirmala UI" pitchFamily="34" charset="-122"/>
                          <a:cs typeface="Nirmala UI" pitchFamily="34" charset="-120"/>
                        </a:rPr>
                        <a:t>প্রতিটি আসনের হিসাব</a:t>
                      </a:r>
                      <a:endParaRPr lang="en-US" sz="1400" dirty="0">
                        <a:latin typeface="Nirmala UI" charset="0"/>
                        <a:ea typeface="Nirmala UI" charset="0"/>
                        <a:cs typeface="Nirmala U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একটি সরল সিমুলেশন: কেন "এক যাত্রী, এক আবেদন" জরুরি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Seats won by broker-assisted applicants out of 200 (model, not a measurement)</a:t>
            </a:r>
            <a:endParaRPr lang="en-US" sz="1600" dirty="0"/>
          </a:p>
        </p:txBody>
      </p:sp>
      <p:graphicFrame>
        <p:nvGraphicFramePr>
          <p:cNvPr id="5" name="Simulation chart" descr=""/>
          <p:cNvGraphicFramePr/>
          <p:nvPr/>
        </p:nvGraphicFramePr>
        <p:xfrm>
          <a:off x="548640" y="164592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hart takeaway card"/>
          <p:cNvSpPr/>
          <p:nvPr/>
        </p:nvSpPr>
        <p:spPr>
          <a:xfrm>
            <a:off x="7772400" y="1737360"/>
            <a:ext cx="3840480" cy="429768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hart takeaway"/>
          <p:cNvSpPr txBox="1"/>
          <p:nvPr/>
        </p:nvSpPr>
        <p:spPr>
          <a:xfrm>
            <a:off x="8046720" y="192024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tx2"/>
                </a:solidFill>
              </a:rPr>
              <a:t>≈ 40</a:t>
            </a:r>
            <a:endParaRPr lang="en-US" sz="5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ন্যায্য ভাগ: আবেদনকারীদের ২০% দালালের মাধ্যমে এলে আসনের প্রায় ২০%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≈ 111</a:t>
            </a:r>
            <a:endParaRPr lang="en-US" sz="5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ডুপ্লিকেট যাচাই না থাকলে: অর্ধেকের বেশি আসন</a:t>
            </a:r>
            <a:endParaRPr lang="en-US" sz="54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A model to explain the mechanism. Only a pilot can measure the real effect.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সবার জন্য, সব জায়গা থেকে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Every role has its own screens; every passenger has a way in</a:t>
            </a:r>
            <a:endParaRPr lang="en-US" sz="1600" dirty="0"/>
          </a:p>
        </p:txBody>
      </p:sp>
      <p:sp>
        <p:nvSpPr>
          <p:cNvPr id="5" name="Roles label"/>
          <p:cNvSpPr txBox="1"/>
          <p:nvPr/>
        </p:nvSpPr>
        <p:spPr>
          <a:xfrm>
            <a:off x="5486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ভূমিকা</a:t>
            </a:r>
            <a:endParaRPr lang="en-US" sz="1800" dirty="0"/>
          </a:p>
        </p:txBody>
      </p:sp>
      <p:sp>
        <p:nvSpPr>
          <p:cNvPr id="6" name="Role যাত্রী"/>
          <p:cNvSpPr/>
          <p:nvPr/>
        </p:nvSpPr>
        <p:spPr>
          <a:xfrm>
            <a:off x="548640" y="219456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Role text যাত্রী"/>
          <p:cNvSpPr txBox="1"/>
          <p:nvPr/>
        </p:nvSpPr>
        <p:spPr>
          <a:xfrm>
            <a:off x="54864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যাত্রী</a:t>
            </a:r>
            <a:endParaRPr lang="en-US" sz="1500" dirty="0"/>
          </a:p>
        </p:txBody>
      </p:sp>
      <p:sp>
        <p:nvSpPr>
          <p:cNvPr id="8" name="Role সাহায্যকারী"/>
          <p:cNvSpPr/>
          <p:nvPr/>
        </p:nvSpPr>
        <p:spPr>
          <a:xfrm>
            <a:off x="2423160" y="219456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Role text সাহায্যকারী"/>
          <p:cNvSpPr txBox="1"/>
          <p:nvPr/>
        </p:nvSpPr>
        <p:spPr>
          <a:xfrm>
            <a:off x="242316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সাহায্যকারী</a:t>
            </a:r>
            <a:endParaRPr lang="en-US" sz="1500" dirty="0"/>
          </a:p>
        </p:txBody>
      </p:sp>
      <p:sp>
        <p:nvSpPr>
          <p:cNvPr id="10" name="Role নিবন্ধিত এজেন্ট"/>
          <p:cNvSpPr/>
          <p:nvPr/>
        </p:nvSpPr>
        <p:spPr>
          <a:xfrm>
            <a:off x="4297680" y="219456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Role text নিবন্ধিত এজেন্ট"/>
          <p:cNvSpPr txBox="1"/>
          <p:nvPr/>
        </p:nvSpPr>
        <p:spPr>
          <a:xfrm>
            <a:off x="4297680" y="2194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নিবন্ধিত এজেন্ট</a:t>
            </a:r>
            <a:endParaRPr lang="en-US" sz="1500" dirty="0"/>
          </a:p>
        </p:txBody>
      </p:sp>
      <p:sp>
        <p:nvSpPr>
          <p:cNvPr id="12" name="Role কাউন্টার"/>
          <p:cNvSpPr/>
          <p:nvPr/>
        </p:nvSpPr>
        <p:spPr>
          <a:xfrm>
            <a:off x="548640" y="306324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Role text কাউন্টার"/>
          <p:cNvSpPr txBox="1"/>
          <p:nvPr/>
        </p:nvSpPr>
        <p:spPr>
          <a:xfrm>
            <a:off x="54864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কাউন্টার</a:t>
            </a:r>
            <a:endParaRPr lang="en-US" sz="1500" dirty="0"/>
          </a:p>
        </p:txBody>
      </p:sp>
      <p:sp>
        <p:nvSpPr>
          <p:cNvPr id="14" name="Role গার্ড"/>
          <p:cNvSpPr/>
          <p:nvPr/>
        </p:nvSpPr>
        <p:spPr>
          <a:xfrm>
            <a:off x="2423160" y="306324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Role text গার্ড"/>
          <p:cNvSpPr txBox="1"/>
          <p:nvPr/>
        </p:nvSpPr>
        <p:spPr>
          <a:xfrm>
            <a:off x="242316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গার্ড</a:t>
            </a:r>
            <a:endParaRPr lang="en-US" sz="1500" dirty="0"/>
          </a:p>
        </p:txBody>
      </p:sp>
      <p:sp>
        <p:nvSpPr>
          <p:cNvPr id="16" name="Role টিটি"/>
          <p:cNvSpPr/>
          <p:nvPr/>
        </p:nvSpPr>
        <p:spPr>
          <a:xfrm>
            <a:off x="4297680" y="306324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ole text টিটি"/>
          <p:cNvSpPr txBox="1"/>
          <p:nvPr/>
        </p:nvSpPr>
        <p:spPr>
          <a:xfrm>
            <a:off x="4297680" y="306324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টিটি</a:t>
            </a:r>
            <a:endParaRPr lang="en-US" sz="1500" dirty="0"/>
          </a:p>
        </p:txBody>
      </p:sp>
      <p:sp>
        <p:nvSpPr>
          <p:cNvPr id="18" name="Role ডেস্ক"/>
          <p:cNvSpPr/>
          <p:nvPr/>
        </p:nvSpPr>
        <p:spPr>
          <a:xfrm>
            <a:off x="548640" y="393192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ole text ডেস্ক"/>
          <p:cNvSpPr txBox="1"/>
          <p:nvPr/>
        </p:nvSpPr>
        <p:spPr>
          <a:xfrm>
            <a:off x="54864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ডেস্ক</a:t>
            </a:r>
            <a:endParaRPr lang="en-US" sz="1500" dirty="0"/>
          </a:p>
        </p:txBody>
      </p:sp>
      <p:sp>
        <p:nvSpPr>
          <p:cNvPr id="20" name="Role স্বাধীন পর্যালোচক"/>
          <p:cNvSpPr/>
          <p:nvPr/>
        </p:nvSpPr>
        <p:spPr>
          <a:xfrm>
            <a:off x="2423160" y="393192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Role text স্বাধীন পর্যালোচক"/>
          <p:cNvSpPr txBox="1"/>
          <p:nvPr/>
        </p:nvSpPr>
        <p:spPr>
          <a:xfrm>
            <a:off x="242316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স্বাধীন পর্যালোচক</a:t>
            </a:r>
            <a:endParaRPr lang="en-US" sz="1500" dirty="0"/>
          </a:p>
        </p:txBody>
      </p:sp>
      <p:sp>
        <p:nvSpPr>
          <p:cNvPr id="22" name="Role পরিচালনা"/>
          <p:cNvSpPr/>
          <p:nvPr/>
        </p:nvSpPr>
        <p:spPr>
          <a:xfrm>
            <a:off x="4297680" y="3931920"/>
            <a:ext cx="1737360" cy="685800"/>
          </a:xfrm>
          <a:prstGeom prst="roundRect">
            <a:avLst>
              <a:gd name="adj" fmla="val 4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Role text পরিচালনা"/>
          <p:cNvSpPr txBox="1"/>
          <p:nvPr/>
        </p:nvSpPr>
        <p:spPr>
          <a:xfrm>
            <a:off x="4297680" y="393192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পরিচালনা</a:t>
            </a:r>
            <a:endParaRPr lang="en-US" sz="1500" dirty="0"/>
          </a:p>
        </p:txBody>
      </p:sp>
      <p:sp>
        <p:nvSpPr>
          <p:cNvPr id="24" name="Channels label"/>
          <p:cNvSpPr txBox="1"/>
          <p:nvPr/>
        </p:nvSpPr>
        <p:spPr>
          <a:xfrm>
            <a:off x="6583680" y="1691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যাত্রীর পথ</a:t>
            </a:r>
            <a:endParaRPr lang="en-US" sz="1800" dirty="0"/>
          </a:p>
        </p:txBody>
      </p:sp>
      <p:sp>
        <p:nvSpPr>
          <p:cNvPr id="25" name="Points"/>
          <p:cNvSpPr txBox="1"/>
          <p:nvPr/>
        </p:nvSpPr>
        <p:spPr>
          <a:xfrm>
            <a:off x="6583680" y="219456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অ্যাপ ও ওয়েবসাইট (মোবাইল ও ডেস্কটপ)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Same rules and fares on every channel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স্টেশন কাউন্টার, বিনামূল্যে সাহায্য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Counter terminal for walk-ins and recovery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SMS, স্মার্টফোন ছাড়াই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Help and reports by keyword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কাগজের টিকিট ও পুরো বাংলা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Tested with automated accessibility checks</a:t>
            </a:r>
            <a:endParaRPr lang="en-US" sz="1600" dirty="0"/>
          </a:p>
        </p:txBody>
      </p:sp>
      <p:sp>
        <p:nvSpPr>
          <p:cNvPr id="26" name="One rule band"/>
          <p:cNvSpPr/>
          <p:nvPr/>
        </p:nvSpPr>
        <p:spPr>
          <a:xfrm>
            <a:off x="548640" y="4983480"/>
            <a:ext cx="11064240" cy="11430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7" name="One rule text"/>
          <p:cNvSpPr txBox="1"/>
          <p:nvPr/>
        </p:nvSpPr>
        <p:spPr>
          <a:xfrm>
            <a:off x="868680" y="498348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যেভাবেই বুক করুন — নিয়ম একই, টিকিট যাত্রীর, প্রতিটি ধাপ রেকর্ডে।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Whoever books and wherever they book: one set of rules, the ticket stays with the traveller, every step is on record.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 তৈরি হয়েছে, এখনই দেখা যায়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What is ready to see today</a:t>
            </a:r>
            <a:endParaRPr lang="en-US" sz="1600" dirty="0"/>
          </a:p>
        </p:txBody>
      </p:sp>
      <p:sp>
        <p:nvSpPr>
          <p:cNvPr id="5" name="Stat card 1"/>
          <p:cNvSpPr/>
          <p:nvPr/>
        </p:nvSpPr>
        <p:spPr>
          <a:xfrm>
            <a:off x="548640" y="1737360"/>
            <a:ext cx="2606040" cy="2926080"/>
          </a:xfrm>
          <a:prstGeom prst="roundRect">
            <a:avLst>
              <a:gd name="adj" fmla="val 526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Stat 1"/>
          <p:cNvSpPr txBox="1"/>
          <p:nvPr/>
        </p:nvSpPr>
        <p:spPr>
          <a:xfrm>
            <a:off x="777240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৭৯</a:t>
            </a:r>
            <a:endParaRPr lang="en-US" sz="6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connected screens</a:t>
            </a:r>
            <a:endParaRPr lang="en-US" sz="60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পুরো যাত্রা, পেজ ৯৯</a:t>
            </a:r>
            <a:endParaRPr lang="en-US" sz="6000" dirty="0"/>
          </a:p>
        </p:txBody>
      </p:sp>
      <p:sp>
        <p:nvSpPr>
          <p:cNvPr id="7" name="Stat card 2"/>
          <p:cNvSpPr/>
          <p:nvPr/>
        </p:nvSpPr>
        <p:spPr>
          <a:xfrm>
            <a:off x="3364992" y="1737360"/>
            <a:ext cx="2606040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tat 2"/>
          <p:cNvSpPr txBox="1"/>
          <p:nvPr/>
        </p:nvSpPr>
        <p:spPr>
          <a:xfrm>
            <a:off x="3593592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৫</a:t>
            </a:r>
            <a:endParaRPr lang="en-US" sz="6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role journeys</a:t>
            </a:r>
            <a:endParaRPr lang="en-US" sz="6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যাত্রী, সাহায্যকারী, এজেন্ট, গার্ড, টিটি</a:t>
            </a:r>
            <a:endParaRPr lang="en-US" sz="6000" dirty="0"/>
          </a:p>
        </p:txBody>
      </p:sp>
      <p:sp>
        <p:nvSpPr>
          <p:cNvPr id="9" name="Stat card 3"/>
          <p:cNvSpPr/>
          <p:nvPr/>
        </p:nvSpPr>
        <p:spPr>
          <a:xfrm>
            <a:off x="6181344" y="1737360"/>
            <a:ext cx="2606040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3"/>
          <p:cNvSpPr txBox="1"/>
          <p:nvPr/>
        </p:nvSpPr>
        <p:spPr>
          <a:xfrm>
            <a:off x="6409944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৪৮৭</a:t>
            </a:r>
            <a:endParaRPr lang="en-US" sz="6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automated tests pass</a:t>
            </a:r>
            <a:endParaRPr lang="en-US" sz="6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কোডেড প্রোটোটাইপ</a:t>
            </a:r>
            <a:endParaRPr lang="en-US" sz="6000" dirty="0"/>
          </a:p>
        </p:txBody>
      </p:sp>
      <p:sp>
        <p:nvSpPr>
          <p:cNvPr id="11" name="Stat card 4"/>
          <p:cNvSpPr/>
          <p:nvPr/>
        </p:nvSpPr>
        <p:spPr>
          <a:xfrm>
            <a:off x="8997696" y="1737360"/>
            <a:ext cx="2606040" cy="292608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tat 4"/>
          <p:cNvSpPr txBox="1"/>
          <p:nvPr/>
        </p:nvSpPr>
        <p:spPr>
          <a:xfrm>
            <a:off x="9226296" y="192024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০</a:t>
            </a:r>
            <a:endParaRPr lang="en-US" sz="6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accessibility violations</a:t>
            </a:r>
            <a:endParaRPr lang="en-US" sz="6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৩৪০টি স্ক্রিন অবস্থায় (axe)</a:t>
            </a:r>
            <a:endParaRPr lang="en-US" sz="6000" dirty="0"/>
          </a:p>
        </p:txBody>
      </p:sp>
      <p:sp>
        <p:nvSpPr>
          <p:cNvPr id="13" name="Points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Figma: ইংরেজি ও বাংলা, মোবাইল ও ডেস্কটপ, কর্মী ও পরিচালনার স্ক্রিন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Interactive prototypes with Back / Next on every screen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প্রস্তাবিত নিয়ম, সিদ্ধান্তের তালিকা ও সিমুলেশন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accent5"/>
                </a:solidFill>
              </a:rPr>
              <a:t>Every rule labelled proposed for railway approval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 একা পারবে না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Honest limits: what design alone cannot solve</a:t>
            </a:r>
            <a:endParaRPr lang="en-US" sz="1600" dirty="0"/>
          </a:p>
        </p:txBody>
      </p:sp>
      <p:sp>
        <p:nvSpPr>
          <p:cNvPr id="5" name="Limit 1"/>
          <p:cNvSpPr/>
          <p:nvPr/>
        </p:nvSpPr>
        <p:spPr>
          <a:xfrm>
            <a:off x="548640" y="1691640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mit title 1"/>
          <p:cNvSpPr txBox="1"/>
          <p:nvPr/>
        </p:nvSpPr>
        <p:spPr>
          <a:xfrm>
            <a:off x="822960" y="169164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গোপন নগদ লেনদেন</a:t>
            </a:r>
            <a:endParaRPr lang="en-US" sz="1800" dirty="0"/>
          </a:p>
        </p:txBody>
      </p:sp>
      <p:sp>
        <p:nvSpPr>
          <p:cNvPr id="7" name="Limit text 1"/>
          <p:cNvSpPr txBox="1"/>
          <p:nvPr/>
        </p:nvSpPr>
        <p:spPr>
          <a:xfrm>
            <a:off x="4572000" y="1691640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If both sides hide a cash deal, no system sees it. Needs cheap official help and sampling.</a:t>
            </a:r>
            <a:endParaRPr lang="en-US" sz="1500" dirty="0"/>
          </a:p>
        </p:txBody>
      </p:sp>
      <p:sp>
        <p:nvSpPr>
          <p:cNvPr id="8" name="Limit 2"/>
          <p:cNvSpPr/>
          <p:nvPr/>
        </p:nvSpPr>
        <p:spPr>
          <a:xfrm>
            <a:off x="548640" y="2587752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it title 2"/>
          <p:cNvSpPr txBox="1"/>
          <p:nvPr/>
        </p:nvSpPr>
        <p:spPr>
          <a:xfrm>
            <a:off x="822960" y="258775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আসল মানুষ মিলে কেনা</a:t>
            </a:r>
            <a:endParaRPr lang="en-US" sz="1800" dirty="0"/>
          </a:p>
        </p:txBody>
      </p:sp>
      <p:sp>
        <p:nvSpPr>
          <p:cNvPr id="10" name="Limit text 2"/>
          <p:cNvSpPr txBox="1"/>
          <p:nvPr/>
        </p:nvSpPr>
        <p:spPr>
          <a:xfrm>
            <a:off x="4572000" y="2587752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Real people buying within their limits can only be found by pattern review.</a:t>
            </a:r>
            <a:endParaRPr lang="en-US" sz="1500" dirty="0"/>
          </a:p>
        </p:txBody>
      </p:sp>
      <p:sp>
        <p:nvSpPr>
          <p:cNvPr id="11" name="Limit 3"/>
          <p:cNvSpPr/>
          <p:nvPr/>
        </p:nvSpPr>
        <p:spPr>
          <a:xfrm>
            <a:off x="548640" y="3483864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Limit title 3"/>
          <p:cNvSpPr txBox="1"/>
          <p:nvPr/>
        </p:nvSpPr>
        <p:spPr>
          <a:xfrm>
            <a:off x="822960" y="348386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একজনের একাধিক পরিচয়পত্র</a:t>
            </a:r>
            <a:endParaRPr lang="en-US" sz="1800" dirty="0"/>
          </a:p>
        </p:txBody>
      </p:sp>
      <p:sp>
        <p:nvSpPr>
          <p:cNvPr id="13" name="Limit text 3"/>
          <p:cNvSpPr txBox="1"/>
          <p:nvPr/>
        </p:nvSpPr>
        <p:spPr>
          <a:xfrm>
            <a:off x="4572000" y="3483864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Needs official identity linking with the NID service.</a:t>
            </a:r>
            <a:endParaRPr lang="en-US" sz="1500" dirty="0"/>
          </a:p>
        </p:txBody>
      </p:sp>
      <p:sp>
        <p:nvSpPr>
          <p:cNvPr id="14" name="Limit 4"/>
          <p:cNvSpPr/>
          <p:nvPr/>
        </p:nvSpPr>
        <p:spPr>
          <a:xfrm>
            <a:off x="548640" y="4379976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Limit title 4"/>
          <p:cNvSpPr txBox="1"/>
          <p:nvPr/>
        </p:nvSpPr>
        <p:spPr>
          <a:xfrm>
            <a:off x="822960" y="437997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কর্মীর যোগসাজশ</a:t>
            </a:r>
            <a:endParaRPr lang="en-US" sz="1800" dirty="0"/>
          </a:p>
        </p:txBody>
      </p:sp>
      <p:sp>
        <p:nvSpPr>
          <p:cNvPr id="16" name="Limit text 4"/>
          <p:cNvSpPr txBox="1"/>
          <p:nvPr/>
        </p:nvSpPr>
        <p:spPr>
          <a:xfrm>
            <a:off x="4572000" y="4379976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Needs an independent integrity team, not only software.</a:t>
            </a:r>
            <a:endParaRPr lang="en-US" sz="1500" dirty="0"/>
          </a:p>
        </p:txBody>
      </p:sp>
      <p:sp>
        <p:nvSpPr>
          <p:cNvPr id="17" name="Limit 5"/>
          <p:cNvSpPr/>
          <p:nvPr/>
        </p:nvSpPr>
        <p:spPr>
          <a:xfrm>
            <a:off x="548640" y="5276088"/>
            <a:ext cx="1106424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Limit title 5"/>
          <p:cNvSpPr txBox="1"/>
          <p:nvPr/>
        </p:nvSpPr>
        <p:spPr>
          <a:xfrm>
            <a:off x="822960" y="527608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কতটা কমবে</a:t>
            </a:r>
            <a:endParaRPr lang="en-US" sz="1800" dirty="0"/>
          </a:p>
        </p:txBody>
      </p:sp>
      <p:sp>
        <p:nvSpPr>
          <p:cNvPr id="19" name="Limit text 5"/>
          <p:cNvSpPr txBox="1"/>
          <p:nvPr/>
        </p:nvSpPr>
        <p:spPr>
          <a:xfrm>
            <a:off x="4572000" y="527608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number can be promised until a measured pilot.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প্রস্তাব: ছোট পাইলট দিয়ে শুরু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5"/>
                </a:solidFill>
              </a:rPr>
              <a:t>Proposal: start with a measured pilot</a:t>
            </a:r>
            <a:endParaRPr lang="en-US" sz="1600" dirty="0"/>
          </a:p>
        </p:txBody>
      </p:sp>
      <p:sp>
        <p:nvSpPr>
          <p:cNvPr id="5" name="Pilot step ১"/>
          <p:cNvSpPr/>
          <p:nvPr/>
        </p:nvSpPr>
        <p:spPr>
          <a:xfrm>
            <a:off x="548640" y="178308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Pilot number ১"/>
          <p:cNvSpPr txBox="1"/>
          <p:nvPr/>
        </p:nvSpPr>
        <p:spPr>
          <a:xfrm>
            <a:off x="548640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১</a:t>
            </a:r>
            <a:endParaRPr lang="en-US" sz="2600" dirty="0"/>
          </a:p>
        </p:txBody>
      </p:sp>
      <p:sp>
        <p:nvSpPr>
          <p:cNvPr id="7" name="Pilot text ১"/>
          <p:cNvSpPr txBox="1"/>
          <p:nvPr/>
        </p:nvSpPr>
        <p:spPr>
          <a:xfrm>
            <a:off x="548640" y="2743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নিয়ম অনুমোদন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Approve proposed rules #35–#44</a:t>
            </a:r>
            <a:endParaRPr lang="en-US" sz="2000" dirty="0"/>
          </a:p>
        </p:txBody>
      </p:sp>
      <p:sp>
        <p:nvSpPr>
          <p:cNvPr id="8" name="Pilot step ২"/>
          <p:cNvSpPr/>
          <p:nvPr/>
        </p:nvSpPr>
        <p:spPr>
          <a:xfrm>
            <a:off x="3364992" y="178308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Pilot number ২"/>
          <p:cNvSpPr txBox="1"/>
          <p:nvPr/>
        </p:nvSpPr>
        <p:spPr>
          <a:xfrm>
            <a:off x="3364992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২</a:t>
            </a:r>
            <a:endParaRPr lang="en-US" sz="2600" dirty="0"/>
          </a:p>
        </p:txBody>
      </p:sp>
      <p:sp>
        <p:nvSpPr>
          <p:cNvPr id="10" name="Pilot text ২"/>
          <p:cNvSpPr txBox="1"/>
          <p:nvPr/>
        </p:nvSpPr>
        <p:spPr>
          <a:xfrm>
            <a:off x="3364992" y="2743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প্রযুক্তিগত যাচাই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Joint discovery: NID linking, back end, SMS number</a:t>
            </a:r>
            <a:endParaRPr lang="en-US" sz="2000" dirty="0"/>
          </a:p>
        </p:txBody>
      </p:sp>
      <p:sp>
        <p:nvSpPr>
          <p:cNvPr id="11" name="Pilot step ৩"/>
          <p:cNvSpPr/>
          <p:nvPr/>
        </p:nvSpPr>
        <p:spPr>
          <a:xfrm>
            <a:off x="6181344" y="178308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Pilot number ৩"/>
          <p:cNvSpPr txBox="1"/>
          <p:nvPr/>
        </p:nvSpPr>
        <p:spPr>
          <a:xfrm>
            <a:off x="6181344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৩</a:t>
            </a:r>
            <a:endParaRPr lang="en-US" sz="2600" dirty="0"/>
          </a:p>
        </p:txBody>
      </p:sp>
      <p:sp>
        <p:nvSpPr>
          <p:cNvPr id="13" name="Pilot text ৩"/>
          <p:cNvSpPr txBox="1"/>
          <p:nvPr/>
        </p:nvSpPr>
        <p:spPr>
          <a:xfrm>
            <a:off x="6181344" y="2743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পাইলট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2–3 busy routes, staff trained</a:t>
            </a:r>
            <a:endParaRPr lang="en-US" sz="2000" dirty="0"/>
          </a:p>
        </p:txBody>
      </p:sp>
      <p:sp>
        <p:nvSpPr>
          <p:cNvPr id="14" name="Pilot step ৪"/>
          <p:cNvSpPr/>
          <p:nvPr/>
        </p:nvSpPr>
        <p:spPr>
          <a:xfrm>
            <a:off x="8997696" y="1783080"/>
            <a:ext cx="822960" cy="82296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Pilot number ৪"/>
          <p:cNvSpPr txBox="1"/>
          <p:nvPr/>
        </p:nvSpPr>
        <p:spPr>
          <a:xfrm>
            <a:off x="8997696" y="1783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৪</a:t>
            </a:r>
            <a:endParaRPr lang="en-US" sz="2600" dirty="0"/>
          </a:p>
        </p:txBody>
      </p:sp>
      <p:sp>
        <p:nvSpPr>
          <p:cNvPr id="16" name="Pilot text ৪"/>
          <p:cNvSpPr txBox="1"/>
          <p:nvPr/>
        </p:nvSpPr>
        <p:spPr>
          <a:xfrm>
            <a:off x="8997696" y="27432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মাপা ও সিদ্ধান্ত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Compare with baseline, then decide on rollout</a:t>
            </a:r>
            <a:endParaRPr lang="en-US" sz="2000" dirty="0"/>
          </a:p>
        </p:txBody>
      </p:sp>
      <p:sp>
        <p:nvSpPr>
          <p:cNvPr id="17" name="Metrics card"/>
          <p:cNvSpPr/>
          <p:nvPr/>
        </p:nvSpPr>
        <p:spPr>
          <a:xfrm>
            <a:off x="548640" y="4114800"/>
            <a:ext cx="11064240" cy="20574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Metrics label"/>
          <p:cNvSpPr txBox="1"/>
          <p:nvPr/>
        </p:nvSpPr>
        <p:spPr>
          <a:xfrm>
            <a:off x="822960" y="4251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 মাপা হবে / What we measure</a:t>
            </a:r>
            <a:endParaRPr lang="en-US" sz="1800" dirty="0"/>
          </a:p>
        </p:txBody>
      </p:sp>
      <p:sp>
        <p:nvSpPr>
          <p:cNvPr id="19" name="Metric 1"/>
          <p:cNvSpPr txBox="1"/>
          <p:nvPr/>
        </p:nvSpPr>
        <p:spPr>
          <a:xfrm>
            <a:off x="822960" y="4800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পুনর্বিক্রির বিজ্ঞাপন / resale listings</a:t>
            </a:r>
            <a:endParaRPr lang="en-US" sz="1400" dirty="0"/>
          </a:p>
        </p:txBody>
      </p:sp>
      <p:sp>
        <p:nvSpPr>
          <p:cNvPr id="20" name="Metric 2"/>
          <p:cNvSpPr txBox="1"/>
          <p:nvPr/>
        </p:nvSpPr>
        <p:spPr>
          <a:xfrm>
            <a:off x="4389120" y="4800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যাচাইয়ে নামের অমিল / name mismatches at checks</a:t>
            </a:r>
            <a:endParaRPr lang="en-US" sz="1400" dirty="0"/>
          </a:p>
        </p:txBody>
      </p:sp>
      <p:sp>
        <p:nvSpPr>
          <p:cNvPr id="21" name="Metric 3"/>
          <p:cNvSpPr txBox="1"/>
          <p:nvPr/>
        </p:nvSpPr>
        <p:spPr>
          <a:xfrm>
            <a:off x="7955280" y="4800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বাড়তি টাকার অভিযোগ / extra-charge reports</a:t>
            </a:r>
            <a:endParaRPr lang="en-US" sz="1400" dirty="0"/>
          </a:p>
        </p:txBody>
      </p:sp>
      <p:sp>
        <p:nvSpPr>
          <p:cNvPr id="22" name="Metric 4"/>
          <p:cNvSpPr txBox="1"/>
          <p:nvPr/>
        </p:nvSpPr>
        <p:spPr>
          <a:xfrm>
            <a:off x="82296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ব্যাখ্যাহীন আসন / unexplained seats</a:t>
            </a:r>
            <a:endParaRPr lang="en-US" sz="1400" dirty="0"/>
          </a:p>
        </p:txBody>
      </p:sp>
      <p:sp>
        <p:nvSpPr>
          <p:cNvPr id="23" name="Metric 5"/>
          <p:cNvSpPr txBox="1"/>
          <p:nvPr/>
        </p:nvSpPr>
        <p:spPr>
          <a:xfrm>
            <a:off x="438912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গেটে সময় / time at the gate</a:t>
            </a:r>
            <a:endParaRPr lang="en-US" sz="1400" dirty="0"/>
          </a:p>
        </p:txBody>
      </p:sp>
      <p:sp>
        <p:nvSpPr>
          <p:cNvPr id="24" name="Metric 6"/>
          <p:cNvSpPr txBox="1"/>
          <p:nvPr/>
        </p:nvSpPr>
        <p:spPr>
          <a:xfrm>
            <a:off x="7955280" y="53492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যাত্রীর সন্তুষ্টি / passenger satisfaction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আপনাদের কাছে আমাদের অনুরোধ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2918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2"/>
                </a:solidFill>
              </a:rPr>
              <a:t>What we ask from the railway authority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Approve a pilot on 2–3 busy routes · NID linking · an independent review team · a two-way SMS number · staff training</a:t>
            </a:r>
            <a:endParaRPr lang="en-US" sz="2400" dirty="0"/>
          </a:p>
          <a:p>
            <a:pPr indent="0" marL="0">
              <a:buNone/>
            </a:pPr>
            <a:r>
              <a:rPr lang="en-US" sz="2200" dirty="0">
                <a:solidFill>
                  <a:schemeClr val="accent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প্রশ্ন ও আলোচনা · Questions and discussion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ailfair proposal">
  <a:themeElements>
    <a:clrScheme name="railfair proposal">
      <a:dk1>
        <a:srgbClr val="17201B"/>
      </a:dk1>
      <a:lt1>
        <a:srgbClr val="FFFFFF"/>
      </a:lt1>
      <a:dk2>
        <a:srgbClr val="1E5B3F"/>
      </a:dk2>
      <a:lt2>
        <a:srgbClr val="EEF4EA"/>
      </a:lt2>
      <a:accent1>
        <a:srgbClr val="1E5B3F"/>
      </a:accent1>
      <a:accent2>
        <a:srgbClr val="C9EE5A"/>
      </a:accent2>
      <a:accent3>
        <a:srgbClr val="2F7A55"/>
      </a:accent3>
      <a:accent4>
        <a:srgbClr val="B45309"/>
      </a:accent4>
      <a:accent5>
        <a:srgbClr val="5B6670"/>
      </a:accent5>
      <a:accent6>
        <a:srgbClr val="0E7490"/>
      </a:accent6>
      <a:hlink>
        <a:srgbClr val="0E7490"/>
      </a:hlink>
      <a:folHlink>
        <a:srgbClr val="5B6670"/>
      </a:folHlink>
    </a:clrScheme>
    <a:fontScheme name="railfair propos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 tickets, less black marketing — proposed upgrade</dc:title>
  <dc:subject>PptxGenJS Presentation</dc:subject>
  <dc:creator>Shahriar Shanto (UX Research)</dc:creator>
  <cp:lastModifiedBy>Shahriar Shanto (UX Research)</cp:lastModifiedBy>
  <cp:revision>1</cp:revision>
  <dcterms:created xsi:type="dcterms:W3CDTF">2026-10-18T09:35:18Z</dcterms:created>
  <dcterms:modified xsi:type="dcterms:W3CDTF">2026-10-18T09:35:18Z</dcterms:modified>
</cp:coreProperties>
</file>